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Caveat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GYMPDLYdprQEaW7wp9rY3H8pV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font" Target="fonts/Caveat-regular.fntdata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Caveat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bd83f535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ebd83f53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bd83f535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ebd83f535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bd83f535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ebd83f535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" name="Google Shape;7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66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4" name="Google Shape;7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5">
            <a:alphaModFix/>
          </a:blip>
          <a:srcRect b="0" l="56642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20" r="0" t="0"/>
            </a:stretch>
          </a:blipFill>
          <a:ln>
            <a:noFill/>
          </a:ln>
        </p:spPr>
      </p:sp>
      <p:sp>
        <p:nvSpPr>
          <p:cNvPr id="78" name="Google Shape;78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 to Data Analytics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Siti Asih Rahmahaya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/>
        </p:nvSpPr>
        <p:spPr>
          <a:xfrm>
            <a:off x="359325" y="652600"/>
            <a:ext cx="8428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Konteks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 salah satu Online Travel Agent Company kalian berperan sebagai data analyst untuk product Flight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Ditemukan sebuah anomali bahwa terjadi lonjakan penjualan pada tanggal 3 November 2023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Lonjakan terjadi sebesar 50% dibanding hari sebelumnya dan 25% dibanding tanggal yang sama bulan lalu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Dilain sisi, terdapat 2 promo marketing campaign yang sedang berjalan: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 Flight 50% dengan max. 200 ribu untuk pelanggan baru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 Flight 10% dengan max 500 ribu untuk pelanggan lama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Dilain sisi, ada promo referral yang sedang berjalan dibulan ini dimana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Setiap user yang join / bertransaksi untuk pertama kali, akan mendapatkan hadiah IDR 50k untuk orang yang diajak dan mengajak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datang ke kalian untuk mencari tahu apa penyebab terjadinya kejadian diatas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3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88" name="Google Shape;88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3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92" name="Google Shape;92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Problem 1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59325" y="3541700"/>
            <a:ext cx="851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Buatkan Analytical Thinking Framework untuk case diatas yang mencakup: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d83f535e_0_27"/>
          <p:cNvSpPr txBox="1"/>
          <p:nvPr/>
        </p:nvSpPr>
        <p:spPr>
          <a:xfrm>
            <a:off x="4857500" y="2787950"/>
            <a:ext cx="4152300" cy="1870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ebd83f535e_0_27"/>
          <p:cNvSpPr txBox="1"/>
          <p:nvPr/>
        </p:nvSpPr>
        <p:spPr>
          <a:xfrm>
            <a:off x="359325" y="2787950"/>
            <a:ext cx="4434900" cy="1870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ebd83f535e_0_27"/>
          <p:cNvSpPr txBox="1"/>
          <p:nvPr/>
        </p:nvSpPr>
        <p:spPr>
          <a:xfrm>
            <a:off x="4857500" y="817575"/>
            <a:ext cx="4152300" cy="182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ebd83f535e_0_27"/>
          <p:cNvSpPr txBox="1"/>
          <p:nvPr/>
        </p:nvSpPr>
        <p:spPr>
          <a:xfrm>
            <a:off x="359325" y="817675"/>
            <a:ext cx="4434900" cy="18210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</p:txBody>
      </p:sp>
      <p:grpSp>
        <p:nvGrpSpPr>
          <p:cNvPr id="114" name="Google Shape;114;g3ebd83f535e_0_27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15" name="Google Shape;115;g3ebd83f535e_0_2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ebd83f535e_0_2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ebd83f535e_0_2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g3ebd83f535e_0_27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19" name="Google Shape;119;g3ebd83f535e_0_2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ebd83f535e_0_2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ebd83f535e_0_2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ebd83f535e_0_2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ebd83f535e_0_2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ebd83f535e_0_2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ebd83f535e_0_2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ebd83f535e_0_2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ebd83f535e_0_2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g3ebd83f535e_0_27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ebd83f535e_0_27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0" name="Google Shape;130;g3ebd83f535e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ebd83f535e_0_27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Answer Form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g3ebd83f535e_0_27"/>
          <p:cNvSpPr txBox="1"/>
          <p:nvPr/>
        </p:nvSpPr>
        <p:spPr>
          <a:xfrm>
            <a:off x="359325" y="817675"/>
            <a:ext cx="51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ebd83f535e_0_27"/>
          <p:cNvSpPr txBox="1"/>
          <p:nvPr/>
        </p:nvSpPr>
        <p:spPr>
          <a:xfrm>
            <a:off x="481850" y="1268825"/>
            <a:ext cx="4152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Terjadi lonjakan penjualan flight pada 3 November 2023 saat beberapa promo dan referral program sedang berjalan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g3ebd83f535e_0_27"/>
          <p:cNvSpPr txBox="1"/>
          <p:nvPr/>
        </p:nvSpPr>
        <p:spPr>
          <a:xfrm>
            <a:off x="4857500" y="1352375"/>
            <a:ext cx="4152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Mengetahui faktor utama yang menyebabkan kenaikan penjualan tersebut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g3ebd83f535e_0_27"/>
          <p:cNvSpPr txBox="1"/>
          <p:nvPr/>
        </p:nvSpPr>
        <p:spPr>
          <a:xfrm>
            <a:off x="481850" y="3309300"/>
            <a:ext cx="4152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Data transaksi flight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Data penggunaan promo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Data referral user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g3ebd83f535e_0_27"/>
          <p:cNvSpPr txBox="1"/>
          <p:nvPr/>
        </p:nvSpPr>
        <p:spPr>
          <a:xfrm>
            <a:off x="4857500" y="3309300"/>
            <a:ext cx="4152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Kenaikan transaksi diduga paling banyak dipengaruhi oleh promo dan referral yang meningkatkan jumlah user baru dan transaksi harian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359325" y="652600"/>
            <a:ext cx="8428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Konteks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 salah satu Money Transfer company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Ditemukan rata-rata waktu tunggu transaksi mengalami lonjakan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 ini menyebabkan banyak user yang complaint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Kejadian terjadi selama periode 1-5 Nov 2023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Belum diketahui penyebab dari insiden diatas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43" name="Google Shape;143;p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47" name="Google Shape;147;p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4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Problem 2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359325" y="2274300"/>
            <a:ext cx="851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Buatkan Analytical Thinking Framework untuk case diatas yang mencakup: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bd83f535e_0_81"/>
          <p:cNvSpPr txBox="1"/>
          <p:nvPr/>
        </p:nvSpPr>
        <p:spPr>
          <a:xfrm>
            <a:off x="4857500" y="2571650"/>
            <a:ext cx="4152300" cy="2087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bd83f535e_0_81"/>
          <p:cNvSpPr txBox="1"/>
          <p:nvPr/>
        </p:nvSpPr>
        <p:spPr>
          <a:xfrm>
            <a:off x="359325" y="2571750"/>
            <a:ext cx="4434900" cy="2087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bd83f535e_0_81"/>
          <p:cNvSpPr txBox="1"/>
          <p:nvPr/>
        </p:nvSpPr>
        <p:spPr>
          <a:xfrm>
            <a:off x="4857500" y="817575"/>
            <a:ext cx="4152300" cy="1616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bd83f535e_0_81"/>
          <p:cNvSpPr txBox="1"/>
          <p:nvPr/>
        </p:nvSpPr>
        <p:spPr>
          <a:xfrm>
            <a:off x="359325" y="817675"/>
            <a:ext cx="4434900" cy="1616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</p:txBody>
      </p:sp>
      <p:grpSp>
        <p:nvGrpSpPr>
          <p:cNvPr id="169" name="Google Shape;169;g3ebd83f535e_0_81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170" name="Google Shape;170;g3ebd83f535e_0_8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ebd83f535e_0_8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ebd83f535e_0_8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g3ebd83f535e_0_81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174" name="Google Shape;174;g3ebd83f535e_0_8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ebd83f535e_0_8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ebd83f535e_0_8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ebd83f535e_0_8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ebd83f535e_0_8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ebd83f535e_0_8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ebd83f535e_0_8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ebd83f535e_0_8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ebd83f535e_0_8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g3ebd83f535e_0_81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bd83f535e_0_8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85" name="Google Shape;185;g3ebd83f535e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ebd83f535e_0_81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Answer Form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ebd83f535e_0_81"/>
          <p:cNvSpPr txBox="1"/>
          <p:nvPr/>
        </p:nvSpPr>
        <p:spPr>
          <a:xfrm>
            <a:off x="359325" y="817675"/>
            <a:ext cx="51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ebd83f535e_0_81"/>
          <p:cNvSpPr txBox="1"/>
          <p:nvPr/>
        </p:nvSpPr>
        <p:spPr>
          <a:xfrm>
            <a:off x="481850" y="1268825"/>
            <a:ext cx="4152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Terjadi peningkatan transaction waiting time pada 1–5 November 2023 yang menyebabkan complaint user meningkat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" name="Google Shape;189;g3ebd83f535e_0_81"/>
          <p:cNvSpPr txBox="1"/>
          <p:nvPr/>
        </p:nvSpPr>
        <p:spPr>
          <a:xfrm>
            <a:off x="5086550" y="1402150"/>
            <a:ext cx="369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Mengetahui penyebab utama meningkatnya waktu tunggu transaksi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g3ebd83f535e_0_81"/>
          <p:cNvSpPr txBox="1"/>
          <p:nvPr/>
        </p:nvSpPr>
        <p:spPr>
          <a:xfrm>
            <a:off x="573100" y="3126038"/>
            <a:ext cx="415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Data transaksi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Data status transaksi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Data payment gateway/bank partner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g3ebd83f535e_0_81"/>
          <p:cNvSpPr txBox="1"/>
          <p:nvPr/>
        </p:nvSpPr>
        <p:spPr>
          <a:xfrm>
            <a:off x="4948850" y="3063838"/>
            <a:ext cx="396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Waiting time diduga meningkat karena adanya gangguan pada payment gateway atau lonjakan traffic transaksi pada periode tersebut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/>
        </p:nvSpPr>
        <p:spPr>
          <a:xfrm>
            <a:off x="359325" y="652600"/>
            <a:ext cx="8428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Konteks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Anda merupakan salah satu Marketing Data Analyst di salah satu Tech Company.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Ditemukan bahwa terjadi penurunan jumlah akuisisi customer*, padahal secara budget iklan yang dikeluarkan cenderung stagnan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 ini menyebabkan biaya akuisisi pelanggan (CAC, customer acquisition cost) menjadi lebih mahal.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Kejadian terjadi di sepanjang pekan ke-3 dan ke-4 akhir tahun 2023 kemarin.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akusisi customer: jumlah customer yang mendaftar kedalam app / platform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5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98" name="Google Shape;198;p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202" name="Google Shape;202;p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5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13" name="Google Shape;2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Problem 3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359325" y="3177250"/>
            <a:ext cx="851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Buatkan Analytical Thinking Framework untuk case diatas yang mencakup: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bd83f535e_0_55"/>
          <p:cNvSpPr txBox="1"/>
          <p:nvPr/>
        </p:nvSpPr>
        <p:spPr>
          <a:xfrm>
            <a:off x="4857500" y="2703300"/>
            <a:ext cx="4152300" cy="19554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Point to be checked/ Initial Hypotheses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ebd83f535e_0_55"/>
          <p:cNvSpPr txBox="1"/>
          <p:nvPr/>
        </p:nvSpPr>
        <p:spPr>
          <a:xfrm>
            <a:off x="359325" y="3166550"/>
            <a:ext cx="4434900" cy="1492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bd83f535e_0_55"/>
          <p:cNvSpPr txBox="1"/>
          <p:nvPr/>
        </p:nvSpPr>
        <p:spPr>
          <a:xfrm>
            <a:off x="4857500" y="817575"/>
            <a:ext cx="4152300" cy="1817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bd83f535e_0_55"/>
          <p:cNvSpPr txBox="1"/>
          <p:nvPr/>
        </p:nvSpPr>
        <p:spPr>
          <a:xfrm>
            <a:off x="359325" y="817675"/>
            <a:ext cx="4434900" cy="2149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8919B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 i="0" sz="1400" u="none" cap="none" strike="noStrike">
              <a:solidFill>
                <a:srgbClr val="1891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rgbClr val="18919B"/>
              </a:solidFill>
            </a:endParaRPr>
          </a:p>
        </p:txBody>
      </p:sp>
      <p:grpSp>
        <p:nvGrpSpPr>
          <p:cNvPr id="224" name="Google Shape;224;g3ebd83f535e_0_55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225" name="Google Shape;225;g3ebd83f535e_0_5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ebd83f535e_0_5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ebd83f535e_0_5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g3ebd83f535e_0_55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229" name="Google Shape;229;g3ebd83f535e_0_5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ebd83f535e_0_5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ebd83f535e_0_5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ebd83f535e_0_5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ebd83f535e_0_5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ebd83f535e_0_5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ebd83f535e_0_5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ebd83f535e_0_5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ebd83f535e_0_5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g3ebd83f535e_0_55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bd83f535e_0_5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40" name="Google Shape;240;g3ebd83f535e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ebd83f535e_0_55"/>
          <p:cNvSpPr txBox="1"/>
          <p:nvPr/>
        </p:nvSpPr>
        <p:spPr>
          <a:xfrm>
            <a:off x="359325" y="243525"/>
            <a:ext cx="84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Answer Form</a:t>
            </a:r>
            <a:endParaRPr b="0" i="0" sz="2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3ebd83f535e_0_55"/>
          <p:cNvSpPr txBox="1"/>
          <p:nvPr/>
        </p:nvSpPr>
        <p:spPr>
          <a:xfrm>
            <a:off x="359325" y="817675"/>
            <a:ext cx="51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ebd83f535e_0_55"/>
          <p:cNvSpPr txBox="1"/>
          <p:nvPr/>
        </p:nvSpPr>
        <p:spPr>
          <a:xfrm>
            <a:off x="286825" y="1167888"/>
            <a:ext cx="44349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Ditemukan penurunan jumlah customer acquisition pada pekan ke-3 dan ke-4 akhir tahun 2023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Budget iklan cenderung stagnan namun acquisition menurun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Customer Acquisition Cost (CAC) menjadi lebih mahal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4" name="Google Shape;244;g3ebd83f535e_0_55"/>
          <p:cNvSpPr txBox="1"/>
          <p:nvPr/>
        </p:nvSpPr>
        <p:spPr>
          <a:xfrm>
            <a:off x="4896500" y="1099163"/>
            <a:ext cx="40743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Mengetahui penyebab penurunan customer acquisition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Mengidentifikasi channel marketing yang mengalami penurunan performa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Mengetahui faktor yang menyebabkan kenaikan CAC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5" name="Google Shape;245;g3ebd83f535e_0_55"/>
          <p:cNvSpPr txBox="1"/>
          <p:nvPr/>
        </p:nvSpPr>
        <p:spPr>
          <a:xfrm>
            <a:off x="286825" y="3540050"/>
            <a:ext cx="48687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Data acquisition customer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Data ads performance (CTR, CPC, conversion rate)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Data CAC dan budget marketing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6" name="Google Shape;246;g3ebd83f535e_0_55"/>
          <p:cNvSpPr txBox="1"/>
          <p:nvPr/>
        </p:nvSpPr>
        <p:spPr>
          <a:xfrm>
            <a:off x="4857500" y="3053175"/>
            <a:ext cx="42717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</a:rPr>
              <a:t>Customer acquisition turun karena conversion user menurun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Ada channel marketing yang performanya drop signifikan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CAC naik karena biaya iklan makin mahal dan acquisition menurun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